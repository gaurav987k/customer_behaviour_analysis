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etrona Bold"/>
      <p:regular r:id="rId17"/>
    </p:embeddedFont>
    <p:embeddedFont>
      <p:font typeface="Inter"/>
      <p:regular r:id="rId18"/>
    </p:embeddedFont>
    <p:embeddedFont>
      <p:font typeface="Inter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54609"/>
            <a:ext cx="4722763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Shopping Behavior Analysis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925119" y="2793429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in-depth analysis of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product categories — uncovering spending patterns, customer segments, product preferences, and subscription behavior to guide strategic business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610" y="314920"/>
            <a:ext cx="1025351" cy="204564"/>
          </a:xfrm>
          <a:prstGeom prst="roundRect">
            <a:avLst>
              <a:gd name="adj" fmla="val 18465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517029" y="348630"/>
            <a:ext cx="1347713" cy="137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OVERVIEW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49610" y="560189"/>
            <a:ext cx="3548658" cy="386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at a Glance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49610" y="1099319"/>
            <a:ext cx="82447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dataset contains </a:t>
            </a:r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 rows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columns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covering customer demographics, purchase details, and shopping behavior. Only 37 values were missing — all in the </a:t>
            </a:r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Rating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49610" y="1612999"/>
            <a:ext cx="4058692" cy="3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3,900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706091" y="2116485"/>
            <a:ext cx="1545729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610" y="2370758"/>
            <a:ext cx="405869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purchase records analyzed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635624" y="1612999"/>
            <a:ext cx="4058766" cy="3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18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892105" y="2116485"/>
            <a:ext cx="1545729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5624" y="2370758"/>
            <a:ext cx="40587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Columns spanning demographics, purchases &amp; behavior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9610" y="2802136"/>
            <a:ext cx="4058692" cy="3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37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1706091" y="3305621"/>
            <a:ext cx="1545729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610" y="3559894"/>
            <a:ext cx="405869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in Review Rating — imputed by category median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35624" y="2802136"/>
            <a:ext cx="4058766" cy="3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$59.76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892105" y="3305621"/>
            <a:ext cx="1545729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Avg. Purchase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35624" y="3559894"/>
            <a:ext cx="40587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purchase amount across all transactions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8647" y="3845942"/>
            <a:ext cx="4147170" cy="982563"/>
          </a:xfrm>
          <a:prstGeom prst="roundRect">
            <a:avLst>
              <a:gd name="adj" fmla="val 8238"/>
            </a:avLst>
          </a:prstGeom>
          <a:solidFill>
            <a:srgbClr val="6237C8"/>
          </a:solidFill>
          <a:ln/>
        </p:spPr>
      </p:sp>
      <p:sp>
        <p:nvSpPr>
          <p:cNvPr id="19" name="Text 17"/>
          <p:cNvSpPr/>
          <p:nvPr/>
        </p:nvSpPr>
        <p:spPr>
          <a:xfrm>
            <a:off x="481013" y="3947815"/>
            <a:ext cx="2211065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Demographics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013" y="4242867"/>
            <a:ext cx="3922440" cy="378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Location</a:t>
            </a:r>
            <a:endParaRPr lang="en-US" sz="85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Status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13908" y="3947815"/>
            <a:ext cx="2002929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Purchase &amp; Behavior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13908" y="4242867"/>
            <a:ext cx="3985245" cy="549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Item, Category, Amount, Season, Size, Color</a:t>
            </a:r>
            <a:endParaRPr lang="en-US" sz="85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Applied, Promo Code, Frequency, Review Rating, Shipping Type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4309"/>
            <a:ext cx="1105421" cy="233214"/>
          </a:xfrm>
          <a:prstGeom prst="roundRect">
            <a:avLst>
              <a:gd name="adj" fmla="val 17872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461516"/>
            <a:ext cx="141379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07082"/>
            <a:ext cx="6101432" cy="426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Exploratory Data Analysis in Python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496119" y="1319510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analysis began with data preparation and cleaning in Python before loading into PostgreSQL for SQL analysis.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6119" y="165749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1853952"/>
            <a:ext cx="2634555" cy="14288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1944514"/>
            <a:ext cx="2634555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Loading &amp; Initial Exploration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6119" y="2445321"/>
            <a:ext cx="263455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the dataset using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Used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check structure and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summary statistics.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54648" y="165749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54648" y="1853952"/>
            <a:ext cx="2634630" cy="14288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2" name="Text 10"/>
          <p:cNvSpPr/>
          <p:nvPr/>
        </p:nvSpPr>
        <p:spPr>
          <a:xfrm>
            <a:off x="3254648" y="1944514"/>
            <a:ext cx="1794718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Missing Data Handling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54648" y="2232124"/>
            <a:ext cx="263463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for null values and imputed missing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Rating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values using the median rating of each product category.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13252" y="165749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13252" y="1853952"/>
            <a:ext cx="2634555" cy="14288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6" name="Text 14"/>
          <p:cNvSpPr/>
          <p:nvPr/>
        </p:nvSpPr>
        <p:spPr>
          <a:xfrm>
            <a:off x="6013252" y="1944514"/>
            <a:ext cx="1926654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Column Standardization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13252" y="2232124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Renamed all columns to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snake_case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better readability and documentation.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6119" y="325769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6119" y="3454152"/>
            <a:ext cx="4013820" cy="14288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20" name="Text 18"/>
          <p:cNvSpPr/>
          <p:nvPr/>
        </p:nvSpPr>
        <p:spPr>
          <a:xfrm>
            <a:off x="496119" y="3544714"/>
            <a:ext cx="1705570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6119" y="3832324"/>
            <a:ext cx="401382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binning customer ages and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purchase data. Verified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discount_applied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were redundant; dropped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33913" y="325769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33913" y="3454152"/>
            <a:ext cx="4013895" cy="14288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24" name="Text 22"/>
          <p:cNvSpPr/>
          <p:nvPr/>
        </p:nvSpPr>
        <p:spPr>
          <a:xfrm>
            <a:off x="4633913" y="3544714"/>
            <a:ext cx="1705570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33913" y="3832324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Python script to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loaded the cleaned DataFrame into the database for SQL analysis.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132" y="301972"/>
            <a:ext cx="750540" cy="195263"/>
          </a:xfrm>
          <a:prstGeom prst="roundRect">
            <a:avLst>
              <a:gd name="adj" fmla="val 18677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499244" y="334491"/>
            <a:ext cx="1077516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4132" y="535186"/>
            <a:ext cx="7366695" cy="37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Insights &amp; High-Spending Discount Users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355997" y="1050652"/>
            <a:ext cx="4161755" cy="3096741"/>
          </a:xfrm>
          <a:prstGeom prst="roundRect">
            <a:avLst>
              <a:gd name="adj" fmla="val 2524"/>
            </a:avLst>
          </a:prstGeom>
          <a:solidFill>
            <a:srgbClr val="6237C8"/>
          </a:solidFill>
          <a:ln/>
        </p:spPr>
      </p:sp>
      <p:sp>
        <p:nvSpPr>
          <p:cNvPr id="6" name="Text 4"/>
          <p:cNvSpPr/>
          <p:nvPr/>
        </p:nvSpPr>
        <p:spPr>
          <a:xfrm>
            <a:off x="464493" y="1145604"/>
            <a:ext cx="1949574" cy="186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Gender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4493" y="1427113"/>
            <a:ext cx="3944764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generated more than double the revenue of female customers —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$157,890 vs. $75,191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despite females comprising a larger share of total customers.</a:t>
            </a:r>
            <a:endParaRPr lang="en-US" sz="8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45" y="1157436"/>
            <a:ext cx="4005486" cy="288317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4132" y="4254178"/>
            <a:ext cx="8275737" cy="587350"/>
          </a:xfrm>
          <a:prstGeom prst="roundRect">
            <a:avLst>
              <a:gd name="adj" fmla="val 7761"/>
            </a:avLst>
          </a:prstGeom>
          <a:solidFill>
            <a:srgbClr val="B6D6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27" y="4413870"/>
            <a:ext cx="135657" cy="1084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6780" y="4376217"/>
            <a:ext cx="781459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High-Spending Discount Users: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839 customers used discounts yet still spent above the average purchase amount — indicating strong price sensitivity paired with above-average spending power.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3547"/>
            <a:ext cx="857920" cy="233214"/>
          </a:xfrm>
          <a:prstGeom prst="roundRect">
            <a:avLst>
              <a:gd name="adj" fmla="val 17872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440754"/>
            <a:ext cx="1166292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86321"/>
            <a:ext cx="6261720" cy="426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Ratings &amp; Shipping Behavior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496119" y="1422722"/>
            <a:ext cx="3634160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5 Products by Average Review Rating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75445"/>
            <a:ext cx="3924598" cy="28249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28046" y="1422722"/>
            <a:ext cx="3700686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Shipping Type: Average Purchase Amount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28046" y="1759893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shipping customers spend slightly more on average (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compared to Standard shipping (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$58.46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suggesting higher purchase intent among express users.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28046" y="2494806"/>
            <a:ext cx="1900312" cy="793105"/>
          </a:xfrm>
          <a:prstGeom prst="roundRect">
            <a:avLst>
              <a:gd name="adj" fmla="val 6569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56783" y="2623542"/>
            <a:ext cx="1642839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Standard Shipping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56783" y="2960712"/>
            <a:ext cx="164283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$58.46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752332" y="2494806"/>
            <a:ext cx="1900312" cy="793105"/>
          </a:xfrm>
          <a:prstGeom prst="roundRect">
            <a:avLst>
              <a:gd name="adj" fmla="val 6569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81068" y="2623542"/>
            <a:ext cx="1642839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Express Shipping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81068" y="2960712"/>
            <a:ext cx="164283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$60.48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1660"/>
            <a:ext cx="857920" cy="233214"/>
          </a:xfrm>
          <a:prstGeom prst="roundRect">
            <a:avLst>
              <a:gd name="adj" fmla="val 17872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578867"/>
            <a:ext cx="1166292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24433"/>
            <a:ext cx="5500539" cy="426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Subscribers vs. Non-Subscribers</a:t>
            </a:r>
            <a:endParaRPr lang="en-US" sz="2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76388"/>
            <a:ext cx="3924598" cy="28249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8046" y="1560835"/>
            <a:ext cx="2162770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28046" y="1898005"/>
            <a:ext cx="3924598" cy="1500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27% of customers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subscribers (1,053), yet they generate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$62,645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total revenue. Non-subscribers (2,847) account for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$170,436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over 73% of total revenue.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spend is nearly identical: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$59.49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(subscribers) vs.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$59.87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(non-subscribers). This suggests subscription status does not significantly influence per-transaction value, but subscriber growth remains a major untapped revenue opportunity.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28046" y="3538389"/>
            <a:ext cx="3924598" cy="923925"/>
          </a:xfrm>
          <a:prstGeom prst="roundRect">
            <a:avLst>
              <a:gd name="adj" fmla="val 5639"/>
            </a:avLst>
          </a:prstGeom>
          <a:solidFill>
            <a:srgbClr val="D0C3E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020" y="3727698"/>
            <a:ext cx="155004" cy="1239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30998" y="3693319"/>
            <a:ext cx="339767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 represent a high-potential segment — increasing subscription adoption could meaningfully boost recurring revenue.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349" y="470297"/>
            <a:ext cx="790501" cy="209178"/>
          </a:xfrm>
          <a:prstGeom prst="roundRect">
            <a:avLst>
              <a:gd name="adj" fmla="val 18369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525959" y="504602"/>
            <a:ext cx="1110481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349" y="721593"/>
            <a:ext cx="8679135" cy="393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Discount-Dependent Products &amp; Customer Segmentation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57349" y="1378148"/>
            <a:ext cx="2776017" cy="196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5 Products by Discount Rate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349" y="1693218"/>
            <a:ext cx="3975199" cy="28613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16214" y="1378148"/>
            <a:ext cx="3678138" cy="196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 by Purchase History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16214" y="1680046"/>
            <a:ext cx="3975199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were classified into three segments based on purchase history: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16214" y="2150269"/>
            <a:ext cx="1934914" cy="715863"/>
          </a:xfrm>
          <a:prstGeom prst="roundRect">
            <a:avLst>
              <a:gd name="adj" fmla="val 6709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35277" y="2269331"/>
            <a:ext cx="1572369" cy="196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35277" y="2571229"/>
            <a:ext cx="1696789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3,116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756499" y="2150269"/>
            <a:ext cx="1934914" cy="715863"/>
          </a:xfrm>
          <a:prstGeom prst="roundRect">
            <a:avLst>
              <a:gd name="adj" fmla="val 6709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75562" y="2269331"/>
            <a:ext cx="1572369" cy="196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75562" y="2571229"/>
            <a:ext cx="1696789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701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16214" y="2971502"/>
            <a:ext cx="3975199" cy="715863"/>
          </a:xfrm>
          <a:prstGeom prst="roundRect">
            <a:avLst>
              <a:gd name="adj" fmla="val 6709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35277" y="3090565"/>
            <a:ext cx="1572369" cy="196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35277" y="3392463"/>
            <a:ext cx="3737074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16214" y="3805907"/>
            <a:ext cx="3975199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customers with more than 5 purchases,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958 are subscribers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2,518 non-subscribers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indicating repeat buyers are not yet converting to subscriptions at scale.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393" y="293415"/>
            <a:ext cx="736922" cy="190649"/>
          </a:xfrm>
          <a:prstGeom prst="roundRect">
            <a:avLst>
              <a:gd name="adj" fmla="val 18788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490314" y="325338"/>
            <a:ext cx="106627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26393" y="520675"/>
            <a:ext cx="7181924" cy="3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Products by Category &amp; Revenue by Age Group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26393" y="1116137"/>
            <a:ext cx="2337420" cy="183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3 Products per Category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6393" y="1402333"/>
            <a:ext cx="4015606" cy="3344763"/>
          </a:xfrm>
          <a:prstGeom prst="roundRect">
            <a:avLst>
              <a:gd name="adj" fmla="val 133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1155" y="1407096"/>
            <a:ext cx="4006081" cy="2779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37790" y="1466776"/>
            <a:ext cx="1443484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41959" y="1466776"/>
            <a:ext cx="1641425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44069" y="1466776"/>
            <a:ext cx="1643807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1155" y="1685032"/>
            <a:ext cx="4006081" cy="2779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37790" y="1744712"/>
            <a:ext cx="1443484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Accessories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41959" y="1744712"/>
            <a:ext cx="1641425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Jewelry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44069" y="1744712"/>
            <a:ext cx="1643807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1155" y="1962969"/>
            <a:ext cx="4006081" cy="2779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7790" y="2022649"/>
            <a:ext cx="1443484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Accessories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41959" y="2022649"/>
            <a:ext cx="1641425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Sunglasses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44069" y="2022649"/>
            <a:ext cx="1643807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1155" y="2240905"/>
            <a:ext cx="4006081" cy="2779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37790" y="2300585"/>
            <a:ext cx="1443484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Accessories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41959" y="2300585"/>
            <a:ext cx="1641425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44069" y="2300585"/>
            <a:ext cx="1643807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31155" y="2518842"/>
            <a:ext cx="4006081" cy="2779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37790" y="2578522"/>
            <a:ext cx="1443484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741959" y="2578522"/>
            <a:ext cx="1641425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Blouse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144069" y="2578522"/>
            <a:ext cx="1643807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171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1155" y="2796778"/>
            <a:ext cx="4006081" cy="2779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37790" y="2856458"/>
            <a:ext cx="1443484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741959" y="2856458"/>
            <a:ext cx="1641425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144069" y="2856458"/>
            <a:ext cx="1643807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1155" y="3074715"/>
            <a:ext cx="4006081" cy="2779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37790" y="3134395"/>
            <a:ext cx="1443484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741959" y="3134395"/>
            <a:ext cx="1641425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Shirt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144069" y="3134395"/>
            <a:ext cx="1643807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169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1155" y="3352651"/>
            <a:ext cx="4006081" cy="2779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37790" y="3412331"/>
            <a:ext cx="1443484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Footwear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741959" y="3412331"/>
            <a:ext cx="1641425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Sandals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144069" y="3412331"/>
            <a:ext cx="1643807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31155" y="3630588"/>
            <a:ext cx="4006081" cy="2779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37790" y="3690268"/>
            <a:ext cx="1443484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Footwear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741959" y="3690268"/>
            <a:ext cx="1641425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144069" y="3690268"/>
            <a:ext cx="1643807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31155" y="3908524"/>
            <a:ext cx="4006081" cy="2779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37790" y="3968204"/>
            <a:ext cx="1443484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Footwear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741959" y="3968204"/>
            <a:ext cx="1641425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Sneakers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144069" y="3968204"/>
            <a:ext cx="1643807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145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31155" y="4186461"/>
            <a:ext cx="4006081" cy="2779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37790" y="4246141"/>
            <a:ext cx="1443484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Outerwear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741959" y="4246141"/>
            <a:ext cx="1641425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Jacket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144069" y="4246141"/>
            <a:ext cx="1643807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163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1155" y="4464397"/>
            <a:ext cx="4006081" cy="2779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37790" y="4524077"/>
            <a:ext cx="1443484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Outerwear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741959" y="4524077"/>
            <a:ext cx="1641425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144069" y="4524077"/>
            <a:ext cx="1643807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161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06764" y="1116137"/>
            <a:ext cx="1946449" cy="183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Age Group</a:t>
            </a:r>
            <a:endParaRPr lang="en-US" sz="1150" dirty="0"/>
          </a:p>
        </p:txBody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6764" y="1402333"/>
            <a:ext cx="4015606" cy="2890391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4706764" y="4395713"/>
            <a:ext cx="4015606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 lead revenue contribution at </a:t>
            </a:r>
            <a:pPr algn="l" indent="0" marL="0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$62,143</a:t>
            </a:r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with revenue declining gradually across older age groups — a relatively even distribution overall.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6393" y="319385"/>
            <a:ext cx="1092473" cy="190649"/>
          </a:xfrm>
          <a:prstGeom prst="roundRect">
            <a:avLst>
              <a:gd name="adj" fmla="val 18788"/>
            </a:avLst>
          </a:prstGeom>
          <a:solidFill>
            <a:srgbClr val="E0D7F4"/>
          </a:solidFill>
          <a:ln/>
        </p:spPr>
      </p:sp>
      <p:sp>
        <p:nvSpPr>
          <p:cNvPr id="4" name="Text 1"/>
          <p:cNvSpPr/>
          <p:nvPr/>
        </p:nvSpPr>
        <p:spPr>
          <a:xfrm>
            <a:off x="490314" y="351309"/>
            <a:ext cx="142182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26393" y="546646"/>
            <a:ext cx="4862215" cy="732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Customer Behavior Dashboard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426393" y="1416993"/>
            <a:ext cx="4862215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interactive </a:t>
            </a:r>
            <a:pPr algn="l" indent="0" marL="0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</a:t>
            </a:r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was built to present all insights visually, with filters for Subscription Status, Gender, Category, and Shipping Type.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105" y="1837134"/>
            <a:ext cx="4876502" cy="6383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0104" y="1957983"/>
            <a:ext cx="1465734" cy="183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Metrics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90104" y="2196108"/>
            <a:ext cx="4577655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3.9K</a:t>
            </a:r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 · </a:t>
            </a:r>
            <a:pPr algn="l" indent="0" marL="0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$59.76</a:t>
            </a:r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Avg. Purchase · </a:t>
            </a:r>
            <a:pPr algn="l" indent="0" marL="0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3.75</a:t>
            </a:r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Avg. Review Rating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105" y="2567136"/>
            <a:ext cx="4876502" cy="6383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0104" y="2687985"/>
            <a:ext cx="1656159" cy="183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Breakdown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590104" y="2926110"/>
            <a:ext cx="4577655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Donut chart showing </a:t>
            </a:r>
            <a:pPr algn="l" indent="0" marL="0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27%</a:t>
            </a:r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subscribers vs. </a:t>
            </a:r>
            <a:pPr algn="l" indent="0" marL="0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73%</a:t>
            </a:r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non-subscribers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2105" y="3297138"/>
            <a:ext cx="4876502" cy="6383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0104" y="3417987"/>
            <a:ext cx="1906265" cy="183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&amp; Sales by Category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590104" y="3656112"/>
            <a:ext cx="4577655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charts comparing Clothing, Accessories, Footwear, and Outerwear performance</a:t>
            </a:r>
            <a:endParaRPr lang="en-US" sz="8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2105" y="4027140"/>
            <a:ext cx="4876502" cy="7969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90104" y="4147989"/>
            <a:ext cx="2011040" cy="183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&amp; Sales by Age Group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590104" y="4386114"/>
            <a:ext cx="4577655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Horizontal bar charts showing contribution from Young Adult, Middle-aged, Adult, and Senior segments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52822"/>
            <a:ext cx="1743001" cy="233214"/>
          </a:xfrm>
          <a:prstGeom prst="roundRect">
            <a:avLst>
              <a:gd name="adj" fmla="val 17872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590029"/>
            <a:ext cx="2051372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RECOMMENDATIONS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35596"/>
            <a:ext cx="4861396" cy="426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Business Recommendations</a:t>
            </a:r>
            <a:endParaRPr lang="en-US" sz="2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48023"/>
            <a:ext cx="310083" cy="3100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1913111"/>
            <a:ext cx="1705570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Boost Subscriptions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96119" y="2200721"/>
            <a:ext cx="261386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subscriber benefits to convert the 73% non-subscriber base, especially among loyal repeat buyers.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991" y="1448023"/>
            <a:ext cx="310083" cy="3100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64991" y="1913111"/>
            <a:ext cx="2163961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Loyalty Programs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264991" y="2200721"/>
            <a:ext cx="26139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move them into the "Loyal" segment. Only 83 customers are classified as "New" — focus on retention.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3939" y="1448023"/>
            <a:ext cx="310083" cy="3100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33939" y="1913111"/>
            <a:ext cx="1813322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 Discount Policy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033939" y="2200721"/>
            <a:ext cx="26139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Hats, Sneakers, and Coats have ~50% discount rates. Balance sales boosts with margin control.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44130"/>
            <a:ext cx="310083" cy="31008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6119" y="3509218"/>
            <a:ext cx="1705570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Positioning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96119" y="3796829"/>
            <a:ext cx="261386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top-rated products (Gloves, Sandals, Boots) and best-sellers (Blouse, Jewelry, Jacket) in campaigns.</a:t>
            </a:r>
            <a:endParaRPr lang="en-US" sz="9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4991" y="3044130"/>
            <a:ext cx="310083" cy="31008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64991" y="3509218"/>
            <a:ext cx="1705570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Targeted Marketing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3264991" y="3796829"/>
            <a:ext cx="261394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high-revenue age groups — especially Young Adults ($62,143) — and express-shipping users who spend more per transaction.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2026-05-29T12:18:14Z</dcterms:created>
  <dcterms:modified xsi:type="dcterms:W3CDTF">2026-05-29T12:18:14Z</dcterms:modified>
</cp:coreProperties>
</file>